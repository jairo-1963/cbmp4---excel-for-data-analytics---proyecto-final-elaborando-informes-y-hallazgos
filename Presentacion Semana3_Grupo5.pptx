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rels" ContentType="application/vnd.openxmlformats-package.relationships+xml"/>
  <Default Extension="vml" ContentType="application/vnd.openxmlformats-officedocument.vmlDrawi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</p:sldMasterIdLst>
  <p:notesMasterIdLst>
    <p:notesMasterId r:id="rId7"/>
  </p:notesMasterIdLst>
  <p:sldIdLst>
    <p:sldId id="256" r:id="rId2"/>
    <p:sldId id="257" r:id="rId3"/>
    <p:sldId id="297" r:id="rId4"/>
    <p:sldId id="298" r:id="rId5"/>
    <p:sldId id="259" r:id="rId6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  <p:embeddedFont>
      <p:font typeface="Days One" panose="020B0604020202020204" charset="0"/>
      <p:regular r:id="rId12"/>
    </p:embeddedFon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Wingdings 3" panose="05040102010807070707" pitchFamily="18" charset="2"/>
      <p:regular r:id="rId1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F09632D-85DC-44D4-80AB-9F5E20410834}">
  <a:tblStyle styleId="{5F09632D-85DC-44D4-80AB-9F5E204108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775DCB02-9BB8-47FD-8907-85C794F793BA}" styleName="Estilo temático 1 - Énfasis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iro\Documents\Beca%20Coding%20Bootcamps%20-%20ESPOL%20+%20MINTEL\Curso%20Espol\Modulo%201\Modulo8\Tarea%20grupal\Semana2_Grupo5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iro\Documents\Beca%20Coding%20Bootcamps%20-%20ESPOL%20+%20MINTEL\Curso%20Espol\Modulo%201\Modulo8\Tarea%20grupal\Semana2_Grupo5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Jairo\Documents\Beca%20Coding%20Bootcamps%20-%20ESPOL%20+%20MINTEL\Curso%20Espol\Modulo%201\Modulo8\Tarea%20grupal\Semana2_Grupo5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[Semana2_Grupo5.xlsx]Tablas Dinámicas y Gráficos!PivotTable7</c:name>
    <c:fmtId val="19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</a:rPr>
              <a:t>Total </a:t>
            </a:r>
            <a:r>
              <a:rPr lang="en-US" dirty="0" err="1">
                <a:solidFill>
                  <a:schemeClr val="bg1"/>
                </a:solidFill>
              </a:rPr>
              <a:t>ventas</a:t>
            </a:r>
            <a:r>
              <a:rPr lang="en-US" dirty="0">
                <a:solidFill>
                  <a:schemeClr val="bg1"/>
                </a:solidFill>
              </a:rPr>
              <a:t> por </a:t>
            </a:r>
            <a:r>
              <a:rPr lang="en-US" dirty="0" err="1">
                <a:solidFill>
                  <a:schemeClr val="bg1"/>
                </a:solidFill>
              </a:rPr>
              <a:t>mes</a:t>
            </a:r>
            <a:endParaRPr lang="en-US" dirty="0">
              <a:solidFill>
                <a:schemeClr val="bg1"/>
              </a:solidFill>
            </a:endParaRP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'Tablas Dinámicas y Gráficos'!$B$50</c:f>
              <c:strCache>
                <c:ptCount val="1"/>
                <c:pt idx="0">
                  <c:v>Total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'Tablas Dinámicas y Gráficos'!$A$51:$A$56</c:f>
              <c:strCache>
                <c:ptCount val="5"/>
                <c:pt idx="0">
                  <c:v>ene</c:v>
                </c:pt>
                <c:pt idx="1">
                  <c:v>feb</c:v>
                </c:pt>
                <c:pt idx="2">
                  <c:v>mar</c:v>
                </c:pt>
                <c:pt idx="3">
                  <c:v>abr</c:v>
                </c:pt>
                <c:pt idx="4">
                  <c:v>may</c:v>
                </c:pt>
              </c:strCache>
            </c:strRef>
          </c:cat>
          <c:val>
            <c:numRef>
              <c:f>'Tablas Dinámicas y Gráficos'!$B$51:$B$56</c:f>
              <c:numCache>
                <c:formatCode>_-[$$-409]* #,##0.00_ ;_-[$$-409]* \-#,##0.00\ ;_-[$$-409]* "-"??_ ;_-@_ </c:formatCode>
                <c:ptCount val="5"/>
                <c:pt idx="0">
                  <c:v>1423316.6779999996</c:v>
                </c:pt>
                <c:pt idx="1">
                  <c:v>1364756.7591999995</c:v>
                </c:pt>
                <c:pt idx="2">
                  <c:v>1408775.0946999998</c:v>
                </c:pt>
                <c:pt idx="3">
                  <c:v>1475046.9643799996</c:v>
                </c:pt>
                <c:pt idx="4">
                  <c:v>452619.09499999991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8B-4042-A2B6-05D6FAC858F3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33539776"/>
        <c:axId val="2033537280"/>
      </c:lineChart>
      <c:catAx>
        <c:axId val="203353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3537280"/>
        <c:crosses val="autoZero"/>
        <c:auto val="1"/>
        <c:lblAlgn val="ctr"/>
        <c:lblOffset val="100"/>
        <c:noMultiLvlLbl val="0"/>
      </c:catAx>
      <c:valAx>
        <c:axId val="2033537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[$$-409]* #,##0.00_ ;_-[$$-409]* \-#,##0.00\ ;_-[$$-409]* &quot;-&quot;??_ ;_-@_ 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3353977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[Semana2_Grupo5.xlsx]Tablas Dinámicas y Gráficos!PivotTable5</c:name>
    <c:fmtId val="4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United States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'Tablas Dinámicas y Gráficos'!$B$123:$B$124</c:f>
              <c:strCache>
                <c:ptCount val="1"/>
                <c:pt idx="0">
                  <c:v>United States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'Tablas Dinámicas y Gráficos'!$A$125:$A$221</c:f>
              <c:strCache>
                <c:ptCount val="96"/>
                <c:pt idx="0">
                  <c:v>Tulsa</c:v>
                </c:pt>
                <c:pt idx="1">
                  <c:v>New York</c:v>
                </c:pt>
                <c:pt idx="2">
                  <c:v>Miami</c:v>
                </c:pt>
                <c:pt idx="3">
                  <c:v>Charlotte</c:v>
                </c:pt>
                <c:pt idx="4">
                  <c:v>Fort Wayne</c:v>
                </c:pt>
                <c:pt idx="5">
                  <c:v>Bakersfield</c:v>
                </c:pt>
                <c:pt idx="6">
                  <c:v>Tampa</c:v>
                </c:pt>
                <c:pt idx="7">
                  <c:v>Rochester</c:v>
                </c:pt>
                <c:pt idx="8">
                  <c:v>Lincoln</c:v>
                </c:pt>
                <c:pt idx="9">
                  <c:v>Columbus</c:v>
                </c:pt>
                <c:pt idx="10">
                  <c:v>Mobile</c:v>
                </c:pt>
                <c:pt idx="11">
                  <c:v>Corpus Christi</c:v>
                </c:pt>
                <c:pt idx="12">
                  <c:v>Long Beach</c:v>
                </c:pt>
                <c:pt idx="13">
                  <c:v>Colorado</c:v>
                </c:pt>
                <c:pt idx="14">
                  <c:v>Raleigh</c:v>
                </c:pt>
                <c:pt idx="15">
                  <c:v>St. Petersburg</c:v>
                </c:pt>
                <c:pt idx="16">
                  <c:v>Virginia Beach</c:v>
                </c:pt>
                <c:pt idx="17">
                  <c:v>Richmond</c:v>
                </c:pt>
                <c:pt idx="18">
                  <c:v>Boston</c:v>
                </c:pt>
                <c:pt idx="19">
                  <c:v>San Jose</c:v>
                </c:pt>
                <c:pt idx="20">
                  <c:v>Nashville</c:v>
                </c:pt>
                <c:pt idx="21">
                  <c:v>Buffalo</c:v>
                </c:pt>
                <c:pt idx="22">
                  <c:v>Detroit</c:v>
                </c:pt>
                <c:pt idx="23">
                  <c:v>Oakland</c:v>
                </c:pt>
                <c:pt idx="24">
                  <c:v>Des Moines</c:v>
                </c:pt>
                <c:pt idx="25">
                  <c:v>Memphis</c:v>
                </c:pt>
                <c:pt idx="26">
                  <c:v>Kansas</c:v>
                </c:pt>
                <c:pt idx="27">
                  <c:v>Yonkers</c:v>
                </c:pt>
                <c:pt idx="28">
                  <c:v>Louisville</c:v>
                </c:pt>
                <c:pt idx="29">
                  <c:v>St. Louis</c:v>
                </c:pt>
                <c:pt idx="30">
                  <c:v>Little Rock</c:v>
                </c:pt>
                <c:pt idx="31">
                  <c:v>Birmingham</c:v>
                </c:pt>
                <c:pt idx="32">
                  <c:v>Tacoma</c:v>
                </c:pt>
                <c:pt idx="33">
                  <c:v>Spokane</c:v>
                </c:pt>
                <c:pt idx="34">
                  <c:v>Honolulu</c:v>
                </c:pt>
                <c:pt idx="35">
                  <c:v>Phoenix</c:v>
                </c:pt>
                <c:pt idx="36">
                  <c:v>Minneapolis</c:v>
                </c:pt>
                <c:pt idx="37">
                  <c:v>Seattle</c:v>
                </c:pt>
                <c:pt idx="38">
                  <c:v>Albuquerque</c:v>
                </c:pt>
                <c:pt idx="39">
                  <c:v>Fort Worth</c:v>
                </c:pt>
                <c:pt idx="40">
                  <c:v>New Orleans</c:v>
                </c:pt>
                <c:pt idx="41">
                  <c:v>Newark</c:v>
                </c:pt>
                <c:pt idx="42">
                  <c:v>Denver</c:v>
                </c:pt>
                <c:pt idx="43">
                  <c:v>Dayton</c:v>
                </c:pt>
                <c:pt idx="44">
                  <c:v>Atlanta</c:v>
                </c:pt>
                <c:pt idx="45">
                  <c:v>Sacramento</c:v>
                </c:pt>
                <c:pt idx="46">
                  <c:v>Akron</c:v>
                </c:pt>
                <c:pt idx="47">
                  <c:v>Stockton</c:v>
                </c:pt>
                <c:pt idx="48">
                  <c:v>Madison</c:v>
                </c:pt>
                <c:pt idx="49">
                  <c:v>Pittsburgh</c:v>
                </c:pt>
                <c:pt idx="50">
                  <c:v>Aurora</c:v>
                </c:pt>
                <c:pt idx="51">
                  <c:v>San Antonio</c:v>
                </c:pt>
                <c:pt idx="52">
                  <c:v>Hialeah</c:v>
                </c:pt>
                <c:pt idx="53">
                  <c:v>St. Paul</c:v>
                </c:pt>
                <c:pt idx="54">
                  <c:v>Montgomery</c:v>
                </c:pt>
                <c:pt idx="55">
                  <c:v>Indianapolis</c:v>
                </c:pt>
                <c:pt idx="56">
                  <c:v>Portland</c:v>
                </c:pt>
                <c:pt idx="57">
                  <c:v>Shreveport</c:v>
                </c:pt>
                <c:pt idx="58">
                  <c:v>Mesa</c:v>
                </c:pt>
                <c:pt idx="59">
                  <c:v>El Paso</c:v>
                </c:pt>
                <c:pt idx="60">
                  <c:v>Oklahoma</c:v>
                </c:pt>
                <c:pt idx="61">
                  <c:v>Anchorage</c:v>
                </c:pt>
                <c:pt idx="62">
                  <c:v>Philadelphia</c:v>
                </c:pt>
                <c:pt idx="63">
                  <c:v>Tucson</c:v>
                </c:pt>
                <c:pt idx="64">
                  <c:v>Jersey</c:v>
                </c:pt>
                <c:pt idx="65">
                  <c:v>Norfolk</c:v>
                </c:pt>
                <c:pt idx="66">
                  <c:v>Las Vegas</c:v>
                </c:pt>
                <c:pt idx="67">
                  <c:v>Jackson</c:v>
                </c:pt>
                <c:pt idx="68">
                  <c:v>Cleveland</c:v>
                </c:pt>
                <c:pt idx="69">
                  <c:v>Jacksonville</c:v>
                </c:pt>
                <c:pt idx="70">
                  <c:v>Garland</c:v>
                </c:pt>
                <c:pt idx="71">
                  <c:v>Houston</c:v>
                </c:pt>
                <c:pt idx="72">
                  <c:v>Austin</c:v>
                </c:pt>
                <c:pt idx="73">
                  <c:v>Dallas</c:v>
                </c:pt>
                <c:pt idx="74">
                  <c:v>Fremont</c:v>
                </c:pt>
                <c:pt idx="75">
                  <c:v>Santa Ana</c:v>
                </c:pt>
                <c:pt idx="76">
                  <c:v>Chicago</c:v>
                </c:pt>
                <c:pt idx="77">
                  <c:v>Grand Rapids</c:v>
                </c:pt>
                <c:pt idx="78">
                  <c:v>Toledo</c:v>
                </c:pt>
                <c:pt idx="79">
                  <c:v>Riverside</c:v>
                </c:pt>
                <c:pt idx="80">
                  <c:v>Cincinnati</c:v>
                </c:pt>
                <c:pt idx="81">
                  <c:v>Anaheim</c:v>
                </c:pt>
                <c:pt idx="82">
                  <c:v>Greensboro</c:v>
                </c:pt>
                <c:pt idx="83">
                  <c:v>Glendale</c:v>
                </c:pt>
                <c:pt idx="84">
                  <c:v>San Francisco</c:v>
                </c:pt>
                <c:pt idx="85">
                  <c:v>Baltimore</c:v>
                </c:pt>
                <c:pt idx="86">
                  <c:v>Los Angeles</c:v>
                </c:pt>
                <c:pt idx="87">
                  <c:v>Omaha</c:v>
                </c:pt>
                <c:pt idx="88">
                  <c:v>Milwaukee</c:v>
                </c:pt>
                <c:pt idx="89">
                  <c:v>Baton Rouge</c:v>
                </c:pt>
                <c:pt idx="90">
                  <c:v>Wichita</c:v>
                </c:pt>
                <c:pt idx="91">
                  <c:v>Lubbock</c:v>
                </c:pt>
                <c:pt idx="92">
                  <c:v>Fresno</c:v>
                </c:pt>
                <c:pt idx="93">
                  <c:v>San Diego</c:v>
                </c:pt>
                <c:pt idx="94">
                  <c:v>Washington</c:v>
                </c:pt>
                <c:pt idx="95">
                  <c:v>Arlington</c:v>
                </c:pt>
              </c:strCache>
            </c:strRef>
          </c:cat>
          <c:val>
            <c:numRef>
              <c:f>'Tablas Dinámicas y Gráficos'!$B$125:$B$221</c:f>
              <c:numCache>
                <c:formatCode>General</c:formatCode>
                <c:ptCount val="96"/>
                <c:pt idx="0">
                  <c:v>20</c:v>
                </c:pt>
                <c:pt idx="1">
                  <c:v>19</c:v>
                </c:pt>
                <c:pt idx="2">
                  <c:v>18</c:v>
                </c:pt>
                <c:pt idx="3">
                  <c:v>18</c:v>
                </c:pt>
                <c:pt idx="4">
                  <c:v>18</c:v>
                </c:pt>
                <c:pt idx="5">
                  <c:v>17</c:v>
                </c:pt>
                <c:pt idx="6">
                  <c:v>17</c:v>
                </c:pt>
                <c:pt idx="7">
                  <c:v>16</c:v>
                </c:pt>
                <c:pt idx="8">
                  <c:v>15</c:v>
                </c:pt>
                <c:pt idx="9">
                  <c:v>15</c:v>
                </c:pt>
                <c:pt idx="10">
                  <c:v>15</c:v>
                </c:pt>
                <c:pt idx="11">
                  <c:v>14</c:v>
                </c:pt>
                <c:pt idx="12">
                  <c:v>14</c:v>
                </c:pt>
                <c:pt idx="13">
                  <c:v>13</c:v>
                </c:pt>
                <c:pt idx="14">
                  <c:v>13</c:v>
                </c:pt>
                <c:pt idx="15">
                  <c:v>13</c:v>
                </c:pt>
                <c:pt idx="16">
                  <c:v>13</c:v>
                </c:pt>
                <c:pt idx="17">
                  <c:v>13</c:v>
                </c:pt>
                <c:pt idx="18">
                  <c:v>13</c:v>
                </c:pt>
                <c:pt idx="19">
                  <c:v>13</c:v>
                </c:pt>
                <c:pt idx="20">
                  <c:v>13</c:v>
                </c:pt>
                <c:pt idx="21">
                  <c:v>13</c:v>
                </c:pt>
                <c:pt idx="22">
                  <c:v>13</c:v>
                </c:pt>
                <c:pt idx="23">
                  <c:v>13</c:v>
                </c:pt>
                <c:pt idx="24">
                  <c:v>12</c:v>
                </c:pt>
                <c:pt idx="25">
                  <c:v>12</c:v>
                </c:pt>
                <c:pt idx="26">
                  <c:v>12</c:v>
                </c:pt>
                <c:pt idx="27">
                  <c:v>12</c:v>
                </c:pt>
                <c:pt idx="28">
                  <c:v>12</c:v>
                </c:pt>
                <c:pt idx="29">
                  <c:v>12</c:v>
                </c:pt>
                <c:pt idx="30">
                  <c:v>12</c:v>
                </c:pt>
                <c:pt idx="31">
                  <c:v>11</c:v>
                </c:pt>
                <c:pt idx="32">
                  <c:v>11</c:v>
                </c:pt>
                <c:pt idx="33">
                  <c:v>11</c:v>
                </c:pt>
                <c:pt idx="34">
                  <c:v>11</c:v>
                </c:pt>
                <c:pt idx="35">
                  <c:v>11</c:v>
                </c:pt>
                <c:pt idx="36">
                  <c:v>11</c:v>
                </c:pt>
                <c:pt idx="37">
                  <c:v>11</c:v>
                </c:pt>
                <c:pt idx="38">
                  <c:v>11</c:v>
                </c:pt>
                <c:pt idx="39">
                  <c:v>11</c:v>
                </c:pt>
                <c:pt idx="40">
                  <c:v>11</c:v>
                </c:pt>
                <c:pt idx="41">
                  <c:v>11</c:v>
                </c:pt>
                <c:pt idx="42">
                  <c:v>11</c:v>
                </c:pt>
                <c:pt idx="43">
                  <c:v>10</c:v>
                </c:pt>
                <c:pt idx="44">
                  <c:v>10</c:v>
                </c:pt>
                <c:pt idx="45">
                  <c:v>10</c:v>
                </c:pt>
                <c:pt idx="46">
                  <c:v>10</c:v>
                </c:pt>
                <c:pt idx="47">
                  <c:v>10</c:v>
                </c:pt>
                <c:pt idx="48">
                  <c:v>10</c:v>
                </c:pt>
                <c:pt idx="49">
                  <c:v>10</c:v>
                </c:pt>
                <c:pt idx="50">
                  <c:v>10</c:v>
                </c:pt>
                <c:pt idx="51">
                  <c:v>10</c:v>
                </c:pt>
                <c:pt idx="52">
                  <c:v>10</c:v>
                </c:pt>
                <c:pt idx="53">
                  <c:v>10</c:v>
                </c:pt>
                <c:pt idx="54">
                  <c:v>10</c:v>
                </c:pt>
                <c:pt idx="55">
                  <c:v>10</c:v>
                </c:pt>
                <c:pt idx="56">
                  <c:v>10</c:v>
                </c:pt>
                <c:pt idx="57">
                  <c:v>9</c:v>
                </c:pt>
                <c:pt idx="58">
                  <c:v>9</c:v>
                </c:pt>
                <c:pt idx="59">
                  <c:v>9</c:v>
                </c:pt>
                <c:pt idx="60">
                  <c:v>9</c:v>
                </c:pt>
                <c:pt idx="61">
                  <c:v>9</c:v>
                </c:pt>
                <c:pt idx="62">
                  <c:v>9</c:v>
                </c:pt>
                <c:pt idx="63">
                  <c:v>9</c:v>
                </c:pt>
                <c:pt idx="64">
                  <c:v>9</c:v>
                </c:pt>
                <c:pt idx="65">
                  <c:v>9</c:v>
                </c:pt>
                <c:pt idx="66">
                  <c:v>8</c:v>
                </c:pt>
                <c:pt idx="67">
                  <c:v>8</c:v>
                </c:pt>
                <c:pt idx="68">
                  <c:v>8</c:v>
                </c:pt>
                <c:pt idx="69">
                  <c:v>8</c:v>
                </c:pt>
                <c:pt idx="70">
                  <c:v>8</c:v>
                </c:pt>
                <c:pt idx="71">
                  <c:v>8</c:v>
                </c:pt>
                <c:pt idx="72">
                  <c:v>8</c:v>
                </c:pt>
                <c:pt idx="73">
                  <c:v>8</c:v>
                </c:pt>
                <c:pt idx="74">
                  <c:v>8</c:v>
                </c:pt>
                <c:pt idx="75">
                  <c:v>8</c:v>
                </c:pt>
                <c:pt idx="76">
                  <c:v>8</c:v>
                </c:pt>
                <c:pt idx="77">
                  <c:v>8</c:v>
                </c:pt>
                <c:pt idx="78">
                  <c:v>8</c:v>
                </c:pt>
                <c:pt idx="79">
                  <c:v>8</c:v>
                </c:pt>
                <c:pt idx="80">
                  <c:v>8</c:v>
                </c:pt>
                <c:pt idx="81">
                  <c:v>7</c:v>
                </c:pt>
                <c:pt idx="82">
                  <c:v>7</c:v>
                </c:pt>
                <c:pt idx="83">
                  <c:v>7</c:v>
                </c:pt>
                <c:pt idx="84">
                  <c:v>7</c:v>
                </c:pt>
                <c:pt idx="85">
                  <c:v>7</c:v>
                </c:pt>
                <c:pt idx="86">
                  <c:v>7</c:v>
                </c:pt>
                <c:pt idx="87">
                  <c:v>6</c:v>
                </c:pt>
                <c:pt idx="88">
                  <c:v>6</c:v>
                </c:pt>
                <c:pt idx="89">
                  <c:v>5</c:v>
                </c:pt>
                <c:pt idx="90">
                  <c:v>5</c:v>
                </c:pt>
                <c:pt idx="91">
                  <c:v>5</c:v>
                </c:pt>
                <c:pt idx="92">
                  <c:v>5</c:v>
                </c:pt>
                <c:pt idx="93">
                  <c:v>4</c:v>
                </c:pt>
                <c:pt idx="94">
                  <c:v>3</c:v>
                </c:pt>
                <c:pt idx="95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9B-4D5B-BCA2-64A3A89E38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042893135"/>
        <c:axId val="1042896047"/>
      </c:barChart>
      <c:catAx>
        <c:axId val="1042893135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896047"/>
        <c:crosses val="autoZero"/>
        <c:auto val="1"/>
        <c:lblAlgn val="ctr"/>
        <c:lblOffset val="100"/>
        <c:noMultiLvlLbl val="0"/>
      </c:catAx>
      <c:valAx>
        <c:axId val="104289604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4289313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[Semana2_Grupo5.xlsx]Tablas Dinámicas y Gráficos!TablaDinámica2</c:name>
    <c:fmtId val="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s-EC"/>
              <a:t>Top 5 de productos más vendidos.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8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9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0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1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2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  <c:marker>
          <c:symbol val="none"/>
        </c:marker>
        <c:dLbl>
          <c:idx val="0"/>
          <c:spPr>
            <a:pattFill prst="pct75">
              <a:fgClr>
                <a:sysClr val="windowText" lastClr="000000">
                  <a:lumMod val="75000"/>
                  <a:lumOff val="25000"/>
                </a:sysClr>
              </a:fgClr>
              <a:bgClr>
                <a:sysClr val="windowText" lastClr="000000">
                  <a:lumMod val="65000"/>
                  <a:lumOff val="35000"/>
                </a:sysClr>
              </a:bgClr>
            </a:patt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1000" b="1" i="0" u="none" strike="noStrike" kern="1200" baseline="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dLblPos val="ctr"/>
          <c:showLegendKey val="0"/>
          <c:showVal val="0"/>
          <c:showCatName val="0"/>
          <c:showSerName val="0"/>
          <c:showPercent val="1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4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5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6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  <c:pivotFmt>
        <c:idx val="17"/>
        <c:spPr>
          <a:solidFill>
            <a:schemeClr val="accent1"/>
          </a:solidFill>
          <a:ln>
            <a:noFill/>
          </a:ln>
          <a:effectLst>
            <a:outerShdw blurRad="254000" sx="102000" sy="102000" algn="ctr" rotWithShape="0">
              <a:prstClr val="black">
                <a:alpha val="20000"/>
              </a:prstClr>
            </a:outerShdw>
          </a:effectLst>
        </c:spPr>
      </c:pivotFmt>
    </c:pivotFmts>
    <c:plotArea>
      <c:layout/>
      <c:pieChart>
        <c:varyColors val="1"/>
        <c:ser>
          <c:idx val="0"/>
          <c:order val="0"/>
          <c:tx>
            <c:strRef>
              <c:f>'Tablas Dinámicas y Gráficos'!$B$87</c:f>
              <c:strCache>
                <c:ptCount val="1"/>
                <c:pt idx="0">
                  <c:v>Total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1-1E8D-4DA9-9561-E7F8CFEFCD38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3-1E8D-4DA9-9561-E7F8CFEFCD38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5-1E8D-4DA9-9561-E7F8CFEFCD38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7-1E8D-4DA9-9561-E7F8CFEFCD38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>
                <a:noFill/>
              </a:ln>
              <a:effectLst>
                <a:outerShdw blurRad="254000" sx="102000" sy="102000" algn="ctr" rotWithShape="0">
                  <a:prstClr val="black">
                    <a:alpha val="20000"/>
                  </a:prstClr>
                </a:outerShdw>
              </a:effectLst>
            </c:spPr>
            <c:extLst>
              <c:ext xmlns:c16="http://schemas.microsoft.com/office/drawing/2014/chart" uri="{C3380CC4-5D6E-409C-BE32-E72D297353CC}">
                <c16:uniqueId val="{00000009-1E8D-4DA9-9561-E7F8CFEFCD38}"/>
              </c:ext>
            </c:extLst>
          </c:dPt>
          <c:dLbls>
            <c:spPr>
              <a:pattFill prst="pct75">
                <a:fgClr>
                  <a:sysClr val="windowText" lastClr="000000">
                    <a:lumMod val="75000"/>
                    <a:lumOff val="25000"/>
                  </a:sysClr>
                </a:fgClr>
                <a:bgClr>
                  <a:sysClr val="windowText" lastClr="000000">
                    <a:lumMod val="65000"/>
                    <a:lumOff val="35000"/>
                  </a:sysClr>
                </a:bgClr>
              </a:patt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>
                  <a:solidFill>
                    <a:schemeClr val="dk1">
                      <a:lumMod val="50000"/>
                      <a:lumOff val="50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'Tablas Dinámicas y Gráficos'!$A$88:$A$93</c:f>
              <c:strCache>
                <c:ptCount val="5"/>
                <c:pt idx="0">
                  <c:v>Lemonade - Natural, 591 Ml</c:v>
                </c:pt>
                <c:pt idx="1">
                  <c:v>Bandage - Fexible 1x3</c:v>
                </c:pt>
                <c:pt idx="2">
                  <c:v>Milk - 2%</c:v>
                </c:pt>
                <c:pt idx="3">
                  <c:v>Jagermeister</c:v>
                </c:pt>
                <c:pt idx="4">
                  <c:v>Vaccum Bag 10x13</c:v>
                </c:pt>
              </c:strCache>
            </c:strRef>
          </c:cat>
          <c:val>
            <c:numRef>
              <c:f>'Tablas Dinámicas y Gráficos'!$B$88:$B$93</c:f>
              <c:numCache>
                <c:formatCode>0</c:formatCode>
                <c:ptCount val="5"/>
                <c:pt idx="0">
                  <c:v>60</c:v>
                </c:pt>
                <c:pt idx="1">
                  <c:v>59</c:v>
                </c:pt>
                <c:pt idx="2">
                  <c:v>56</c:v>
                </c:pt>
                <c:pt idx="3">
                  <c:v>54</c:v>
                </c:pt>
                <c:pt idx="4">
                  <c:v>49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E8D-4DA9-9561-E7F8CFEFCD38}"/>
            </c:ext>
          </c:extLst>
        </c:ser>
        <c:dLbls>
          <c:dLblPos val="ctr"/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3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pattFill prst="pct75">
        <a:fgClr>
          <a:schemeClr val="dk1">
            <a:lumMod val="75000"/>
            <a:lumOff val="25000"/>
          </a:schemeClr>
        </a:fgClr>
        <a:bgClr>
          <a:schemeClr val="dk1">
            <a:lumMod val="65000"/>
            <a:lumOff val="35000"/>
          </a:schemeClr>
        </a:bgClr>
      </a:pattFill>
      <a:effectLst>
        <a:outerShdw blurRad="50800" dist="38100" dir="2700000" algn="tl" rotWithShape="0">
          <a:prstClr val="black">
            <a:alpha val="40000"/>
          </a:prstClr>
        </a:outerShdw>
      </a:effectLst>
    </cs:spPr>
    <cs:defRPr sz="1000" b="1" i="0" u="none" strike="noStrike" kern="1200" baseline="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effectLst>
        <a:outerShdw blurRad="254000" sx="102000" sy="102000" algn="ctr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3" name="Google Shape;78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e2869b1e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e2869b1e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e2869b1e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e2869b1e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94987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" name="Google Shape;808;g1ee2869b1e1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9" name="Google Shape;809;g1ee2869b1e1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475475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ge207fd22f2_0_250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6" name="Google Shape;836;ge207fd22f2_0_250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3159" y="514350"/>
            <a:ext cx="6000750" cy="2228851"/>
          </a:xfrm>
        </p:spPr>
        <p:txBody>
          <a:bodyPr anchor="b">
            <a:normAutofit/>
          </a:bodyPr>
          <a:lstStyle>
            <a:lvl1pPr algn="l">
              <a:defRPr sz="3600">
                <a:effectLst/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3159" y="2882900"/>
            <a:ext cx="4800600" cy="1460500"/>
          </a:xfrm>
        </p:spPr>
        <p:txBody>
          <a:bodyPr anchor="t">
            <a:normAutofit/>
          </a:bodyPr>
          <a:lstStyle>
            <a:lvl1pPr marL="0" indent="0" algn="l">
              <a:buNone/>
              <a:defRPr sz="1575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6171009" y="6350"/>
            <a:ext cx="2857500" cy="28575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4581128" y="68659"/>
            <a:ext cx="4560491" cy="4560491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5426869" y="171450"/>
            <a:ext cx="3714750" cy="371475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5501878" y="24209"/>
            <a:ext cx="3639742" cy="3639742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5884070" y="457201"/>
            <a:ext cx="3257549" cy="325754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71814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61844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1504950"/>
            <a:ext cx="6400801" cy="1711200"/>
          </a:xfrm>
        </p:spPr>
        <p:txBody>
          <a:bodyPr anchor="b">
            <a:normAutofit/>
          </a:bodyPr>
          <a:lstStyle>
            <a:lvl1pPr algn="l">
              <a:defRPr sz="27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371850"/>
            <a:ext cx="6400800" cy="11239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43576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3159" y="514351"/>
            <a:ext cx="3703241" cy="271145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56100" y="514351"/>
            <a:ext cx="3700859" cy="271145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55908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9061" y="514350"/>
            <a:ext cx="3487340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3159" y="952897"/>
            <a:ext cx="3703241" cy="227290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59299" y="514350"/>
            <a:ext cx="349885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54909" y="946546"/>
            <a:ext cx="3696891" cy="2272904"/>
          </a:xfrm>
        </p:spPr>
        <p:txBody>
          <a:bodyPr anchor="t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65016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732382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430694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13759" y="514350"/>
            <a:ext cx="2743200" cy="1028700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3159" y="514350"/>
            <a:ext cx="4457701" cy="3981450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13759" y="1657350"/>
            <a:ext cx="2743200" cy="1568450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46379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109" y="1085850"/>
            <a:ext cx="4514850" cy="857250"/>
          </a:xfrm>
        </p:spPr>
        <p:txBody>
          <a:bodyPr anchor="b">
            <a:normAutofit/>
          </a:bodyPr>
          <a:lstStyle>
            <a:lvl1pPr algn="l">
              <a:defRPr sz="21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1759" y="685800"/>
            <a:ext cx="2460731" cy="3429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109" y="2082800"/>
            <a:ext cx="4516041" cy="1536700"/>
          </a:xfrm>
        </p:spPr>
        <p:txBody>
          <a:bodyPr anchor="t"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59869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n panorámic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14350" y="400050"/>
            <a:ext cx="8114109" cy="234315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685801" y="2882900"/>
            <a:ext cx="6228158" cy="3429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20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0537932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anchor="ctr">
            <a:normAutofit/>
          </a:bodyPr>
          <a:lstStyle>
            <a:lvl1pPr algn="l">
              <a:defRPr sz="2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086100"/>
            <a:ext cx="6401991" cy="1409700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733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9" y="514350"/>
            <a:ext cx="6858001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84659" y="2571750"/>
            <a:ext cx="6400800" cy="28575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60" y="3225801"/>
            <a:ext cx="6400800" cy="1263649"/>
          </a:xfrm>
        </p:spPr>
        <p:txBody>
          <a:bodyPr anchor="ctr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2081798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59" y="2571750"/>
            <a:ext cx="6400800" cy="1273050"/>
          </a:xfrm>
        </p:spPr>
        <p:txBody>
          <a:bodyPr anchor="b">
            <a:normAutofit/>
          </a:bodyPr>
          <a:lstStyle>
            <a:lvl1pPr algn="l">
              <a:defRPr sz="2400" b="0" cap="all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8" y="3849736"/>
            <a:ext cx="6401993" cy="645300"/>
          </a:xfrm>
        </p:spPr>
        <p:txBody>
          <a:bodyPr anchor="t">
            <a:normAutofit/>
          </a:bodyPr>
          <a:lstStyle>
            <a:lvl1pPr marL="0" indent="0" algn="l">
              <a:buNone/>
              <a:defRPr sz="150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7143090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0" y="514350"/>
            <a:ext cx="6858000" cy="2057400"/>
          </a:xfrm>
        </p:spPr>
        <p:txBody>
          <a:bodyPr anchor="ctr">
            <a:normAutofit/>
          </a:bodyPr>
          <a:lstStyle>
            <a:lvl1pPr algn="l">
              <a:defRPr sz="2400" b="0" cap="all">
                <a:solidFill>
                  <a:schemeClr val="tx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0"/>
            <a:ext cx="6400801" cy="7874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733800"/>
            <a:ext cx="6400801" cy="76200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398859" y="6091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14059" y="2076451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8701833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3160" y="514350"/>
            <a:ext cx="7543800" cy="2057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13159" y="2946401"/>
            <a:ext cx="6400800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18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3575049"/>
            <a:ext cx="6400801" cy="9207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bg2">
                    <a:lumMod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3882177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6327189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3909" y="514350"/>
            <a:ext cx="1543050" cy="342900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514350"/>
            <a:ext cx="5867400" cy="3981450"/>
          </a:xfrm>
        </p:spPr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85464"/>
      </p:ext>
    </p:extLst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9"/>
          <p:cNvSpPr txBox="1">
            <a:spLocks noGrp="1"/>
          </p:cNvSpPr>
          <p:nvPr>
            <p:ph type="subTitle" idx="1"/>
          </p:nvPr>
        </p:nvSpPr>
        <p:spPr>
          <a:xfrm>
            <a:off x="896400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4" name="Google Shape;354;p9"/>
          <p:cNvSpPr txBox="1">
            <a:spLocks noGrp="1"/>
          </p:cNvSpPr>
          <p:nvPr>
            <p:ph type="subTitle" idx="2"/>
          </p:nvPr>
        </p:nvSpPr>
        <p:spPr>
          <a:xfrm>
            <a:off x="4696925" y="1812275"/>
            <a:ext cx="3550800" cy="263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5" name="Google Shape;355;p9"/>
          <p:cNvSpPr txBox="1">
            <a:spLocks noGrp="1"/>
          </p:cNvSpPr>
          <p:nvPr>
            <p:ph type="title"/>
          </p:nvPr>
        </p:nvSpPr>
        <p:spPr>
          <a:xfrm>
            <a:off x="896750" y="941350"/>
            <a:ext cx="73512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729390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905227" y="2222500"/>
            <a:ext cx="2236394" cy="2406650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3159" y="3365499"/>
            <a:ext cx="6400800" cy="11303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3159" y="514351"/>
            <a:ext cx="6400800" cy="27114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8309" y="4629150"/>
            <a:ext cx="12001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8/22/2025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3159" y="4629150"/>
            <a:ext cx="5657850" cy="273844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75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2400" y="4183857"/>
            <a:ext cx="856684" cy="50244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4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1845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  <p:sldLayoutId id="2147483684" r:id="rId14"/>
    <p:sldLayoutId id="2147483685" r:id="rId15"/>
    <p:sldLayoutId id="2147483686" r:id="rId16"/>
    <p:sldLayoutId id="2147483687" r:id="rId17"/>
    <p:sldLayoutId id="2147483688" r:id="rId18"/>
  </p:sldLayoutIdLst>
  <p:hf hdr="0" ftr="0" dt="0"/>
  <p:txStyles>
    <p:titleStyle>
      <a:lvl1pPr algn="l" defTabSz="342900" rtl="0" eaLnBrk="1" latinLnBrk="0" hangingPunct="1">
        <a:spcBef>
          <a:spcPct val="0"/>
        </a:spcBef>
        <a:buNone/>
        <a:defRPr sz="27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5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3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2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05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.emf"/><Relationship Id="rId5" Type="http://schemas.openxmlformats.org/officeDocument/2006/relationships/package" Target="../embeddings/Microsoft_Excel_Worksheet.xlsx"/><Relationship Id="rId4" Type="http://schemas.openxmlformats.org/officeDocument/2006/relationships/chart" Target="../charts/char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.emf"/><Relationship Id="rId5" Type="http://schemas.openxmlformats.org/officeDocument/2006/relationships/package" Target="../embeddings/Microsoft_Excel_Worksheet1.xlsx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.emf"/><Relationship Id="rId5" Type="http://schemas.openxmlformats.org/officeDocument/2006/relationships/package" Target="../embeddings/Microsoft_Excel_Worksheet2.xlsx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5" name="Google Shape;785;p24"/>
          <p:cNvSpPr txBox="1">
            <a:spLocks noGrp="1"/>
          </p:cNvSpPr>
          <p:nvPr>
            <p:ph type="ctrTitle"/>
          </p:nvPr>
        </p:nvSpPr>
        <p:spPr>
          <a:xfrm>
            <a:off x="1814850" y="1396355"/>
            <a:ext cx="5514300" cy="1192982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/>
              <a:t>Grocery Sales</a:t>
            </a:r>
            <a:endParaRPr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451E938-EF72-44A8-8459-DDDD9E1702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1135" y="2669541"/>
            <a:ext cx="5514299" cy="460500"/>
          </a:xfrm>
        </p:spPr>
        <p:txBody>
          <a:bodyPr>
            <a:normAutofit/>
          </a:bodyPr>
          <a:lstStyle/>
          <a:p>
            <a:r>
              <a:rPr lang="es-ES" sz="1800" b="1" dirty="0"/>
              <a:t>Proyecto Final: </a:t>
            </a:r>
            <a:r>
              <a:rPr lang="es-EC" sz="1800" b="1" dirty="0"/>
              <a:t>Elaborando informes y hallazgos</a:t>
            </a:r>
          </a:p>
        </p:txBody>
      </p:sp>
      <p:sp>
        <p:nvSpPr>
          <p:cNvPr id="806" name="Google Shape;806;p24"/>
          <p:cNvSpPr txBox="1"/>
          <p:nvPr/>
        </p:nvSpPr>
        <p:spPr>
          <a:xfrm>
            <a:off x="2113730" y="671863"/>
            <a:ext cx="4721796" cy="661277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sz="3200" dirty="0">
                <a:solidFill>
                  <a:schemeClr val="dk1"/>
                </a:solidFill>
                <a:latin typeface="Days One"/>
                <a:ea typeface="Days One"/>
                <a:cs typeface="Days One"/>
                <a:sym typeface="Days One"/>
              </a:rPr>
              <a:t>GRUPO 5</a:t>
            </a:r>
            <a:endParaRPr sz="3200" dirty="0">
              <a:solidFill>
                <a:schemeClr val="dk1"/>
              </a:solidFill>
              <a:latin typeface="Days One"/>
              <a:ea typeface="Days One"/>
              <a:cs typeface="Days One"/>
              <a:sym typeface="Days One"/>
            </a:endParaRPr>
          </a:p>
        </p:txBody>
      </p:sp>
      <p:sp>
        <p:nvSpPr>
          <p:cNvPr id="24" name="Google Shape;838;p27">
            <a:extLst>
              <a:ext uri="{FF2B5EF4-FFF2-40B4-BE49-F238E27FC236}">
                <a16:creationId xmlns:a16="http://schemas.microsoft.com/office/drawing/2014/main" id="{C757F91B-F80F-49E0-9455-3497C6CD2E0B}"/>
              </a:ext>
            </a:extLst>
          </p:cNvPr>
          <p:cNvSpPr txBox="1">
            <a:spLocks/>
          </p:cNvSpPr>
          <p:nvPr/>
        </p:nvSpPr>
        <p:spPr>
          <a:xfrm>
            <a:off x="1605404" y="3193256"/>
            <a:ext cx="6012112" cy="140689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None/>
              <a:defRPr sz="16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ato"/>
              <a:buNone/>
              <a:defRPr sz="1800" b="0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482600" lvl="0" indent="-342900" algn="l">
              <a:buFont typeface="+mj-lt"/>
              <a:buAutoNum type="arabicPeriod"/>
            </a:pPr>
            <a:r>
              <a:rPr lang="es-EC" dirty="0"/>
              <a:t>CEVALLOS COBOS LUIS FERNANDO</a:t>
            </a:r>
          </a:p>
          <a:p>
            <a:pPr marL="482600" lvl="0" indent="-342900" algn="l">
              <a:buFont typeface="+mj-lt"/>
              <a:buAutoNum type="arabicPeriod"/>
            </a:pPr>
            <a:r>
              <a:rPr lang="es-EC" dirty="0"/>
              <a:t>INTRIAGO CELI ROMINA ANAHI </a:t>
            </a:r>
            <a:endParaRPr lang="es-419" dirty="0"/>
          </a:p>
          <a:p>
            <a:pPr marL="482600" lvl="0" indent="-342900" algn="l">
              <a:buFont typeface="+mj-lt"/>
              <a:buAutoNum type="arabicPeriod"/>
            </a:pPr>
            <a:r>
              <a:rPr lang="es-419" dirty="0"/>
              <a:t>PIGUABE </a:t>
            </a:r>
            <a:r>
              <a:rPr lang="es-EC" dirty="0"/>
              <a:t>ALMEA SAMIRA NAOMY</a:t>
            </a:r>
          </a:p>
          <a:p>
            <a:pPr marL="482600" lvl="0" indent="-342900" algn="l">
              <a:buFont typeface="+mj-lt"/>
              <a:buAutoNum type="arabicPeriod"/>
            </a:pPr>
            <a:r>
              <a:rPr lang="es-EC" dirty="0"/>
              <a:t>PONGUILLO RIZO MARIA XIMENA</a:t>
            </a:r>
          </a:p>
          <a:p>
            <a:pPr marL="482600" lvl="0" indent="-342900" algn="l">
              <a:buFont typeface="+mj-lt"/>
              <a:buAutoNum type="arabicPeriod"/>
            </a:pPr>
            <a:r>
              <a:rPr lang="es-EC" dirty="0"/>
              <a:t>SALVATIERRA SAMANIEGO JAIRO ALEJANDRO</a:t>
            </a:r>
            <a:endParaRPr lang="es-EC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BD466F9-A072-419D-BEDD-5270A93F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3087" y="0"/>
            <a:ext cx="7351200" cy="572700"/>
          </a:xfrm>
        </p:spPr>
        <p:txBody>
          <a:bodyPr/>
          <a:lstStyle/>
          <a:p>
            <a:pPr algn="ctr"/>
            <a:r>
              <a:rPr lang="es-ES" dirty="0">
                <a:solidFill>
                  <a:schemeClr val="bg1"/>
                </a:solidFill>
              </a:rPr>
              <a:t>Ventas por mes</a:t>
            </a:r>
            <a:endParaRPr lang="es-EC" dirty="0">
              <a:solidFill>
                <a:schemeClr val="bg1"/>
              </a:solidFill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0E3633D-00C6-4912-A1EE-03530669CE6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11028846"/>
              </p:ext>
            </p:extLst>
          </p:nvPr>
        </p:nvGraphicFramePr>
        <p:xfrm>
          <a:off x="265151" y="572700"/>
          <a:ext cx="5816009" cy="36746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D19FB83B-E325-43A4-960B-AB4BC78BBD1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99786319"/>
              </p:ext>
            </p:extLst>
          </p:nvPr>
        </p:nvGraphicFramePr>
        <p:xfrm>
          <a:off x="5949637" y="896161"/>
          <a:ext cx="2914650" cy="1343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Worksheet" r:id="rId5" imgW="2914649" imgH="1342889" progId="Excel.Sheet.12">
                  <p:embed/>
                </p:oleObj>
              </mc:Choice>
              <mc:Fallback>
                <p:oleObj name="Worksheet" r:id="rId5" imgW="2914649" imgH="13428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949637" y="896161"/>
                        <a:ext cx="2914650" cy="1343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BD466F9-A072-419D-BEDD-5270A93F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325" y="107063"/>
            <a:ext cx="7351200" cy="600371"/>
          </a:xfrm>
        </p:spPr>
        <p:txBody>
          <a:bodyPr/>
          <a:lstStyle/>
          <a:p>
            <a:r>
              <a:rPr lang="es-ES" sz="1800" b="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</a:rPr>
              <a:t> clientes  distribuidos  por país/ciudad.</a:t>
            </a:r>
            <a:endParaRPr lang="es-EC" sz="24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98427CA1-F1BE-4E1A-8203-DD5C5CEE5C6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91321594"/>
              </p:ext>
            </p:extLst>
          </p:nvPr>
        </p:nvGraphicFramePr>
        <p:xfrm>
          <a:off x="430618" y="701749"/>
          <a:ext cx="6156251" cy="3563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83AD7D5A-04CA-4E25-A6B1-DED02CDCE96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7939663"/>
              </p:ext>
            </p:extLst>
          </p:nvPr>
        </p:nvGraphicFramePr>
        <p:xfrm>
          <a:off x="5678488" y="101600"/>
          <a:ext cx="3359150" cy="5041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3" name="Worksheet" r:id="rId5" imgW="3666951" imgH="11820681" progId="Excel.Sheet.12">
                  <p:embed/>
                </p:oleObj>
              </mc:Choice>
              <mc:Fallback>
                <p:oleObj name="Worksheet" r:id="rId5" imgW="3666951" imgH="11820681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5678488" y="101600"/>
                        <a:ext cx="3359150" cy="50419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8869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6BD466F9-A072-419D-BEDD-5270A93F5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400" y="803127"/>
            <a:ext cx="7351200" cy="600371"/>
          </a:xfrm>
        </p:spPr>
        <p:txBody>
          <a:bodyPr>
            <a:normAutofit fontScale="90000"/>
          </a:bodyPr>
          <a:lstStyle/>
          <a:p>
            <a:r>
              <a:rPr lang="es-ES" sz="24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Top 5 – Productos más vendidos en el mes de marzo</a:t>
            </a:r>
            <a:endParaRPr lang="es-EC" sz="2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Gráfico 5">
            <a:extLst>
              <a:ext uri="{FF2B5EF4-FFF2-40B4-BE49-F238E27FC236}">
                <a16:creationId xmlns:a16="http://schemas.microsoft.com/office/drawing/2014/main" id="{949BBFEF-B8A5-42DB-942F-AEC1B71FAB0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08732502"/>
              </p:ext>
            </p:extLst>
          </p:nvPr>
        </p:nvGraphicFramePr>
        <p:xfrm>
          <a:off x="4916605" y="1685260"/>
          <a:ext cx="4116705" cy="2857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" name="Object 1">
            <a:extLst>
              <a:ext uri="{FF2B5EF4-FFF2-40B4-BE49-F238E27FC236}">
                <a16:creationId xmlns:a16="http://schemas.microsoft.com/office/drawing/2014/main" id="{3852DBF8-CFFD-48BB-9986-B72B4DEA081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6862300"/>
              </p:ext>
            </p:extLst>
          </p:nvPr>
        </p:nvGraphicFramePr>
        <p:xfrm>
          <a:off x="445903" y="1685260"/>
          <a:ext cx="2914650" cy="172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Worksheet" r:id="rId5" imgW="2914649" imgH="1724189" progId="Excel.Sheet.12">
                  <p:embed/>
                </p:oleObj>
              </mc:Choice>
              <mc:Fallback>
                <p:oleObj name="Worksheet" r:id="rId5" imgW="2914649" imgH="1724189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45903" y="1685260"/>
                        <a:ext cx="2914650" cy="17240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73399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Google Shape;838;p27"/>
          <p:cNvSpPr txBox="1">
            <a:spLocks noGrp="1"/>
          </p:cNvSpPr>
          <p:nvPr>
            <p:ph type="subTitle" idx="1"/>
          </p:nvPr>
        </p:nvSpPr>
        <p:spPr>
          <a:xfrm>
            <a:off x="0" y="924181"/>
            <a:ext cx="8229600" cy="27015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Punto 1: Desde enero a abril las ventas subieron en mayo se ve una caída en ventas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C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unto 2: Estado Unidos es el país con mas clientes por ciudad estado entre las tres primeras están: Tulsa, New York y Miami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s-EC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s-E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Punto 3: Los Productos mas vendidos en el mes de Marzo son: Lemonade - Natural, 591 Ml, Bandage - Fexible 1x3, Milk - 2%, Jagermeister y Vaccum Bag 10x13</a:t>
            </a:r>
          </a:p>
        </p:txBody>
      </p:sp>
      <p:sp>
        <p:nvSpPr>
          <p:cNvPr id="839" name="Google Shape;839;p27"/>
          <p:cNvSpPr txBox="1">
            <a:spLocks noGrp="1"/>
          </p:cNvSpPr>
          <p:nvPr>
            <p:ph type="title"/>
          </p:nvPr>
        </p:nvSpPr>
        <p:spPr>
          <a:xfrm>
            <a:off x="659219" y="0"/>
            <a:ext cx="7351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C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Hallazgos clave</a:t>
            </a:r>
            <a:endParaRPr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ctor">
  <a:themeElements>
    <a:clrScheme name="Sector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Sector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ector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74</TotalTime>
  <Words>148</Words>
  <Application>Microsoft Office PowerPoint</Application>
  <PresentationFormat>On-screen Show (16:9)</PresentationFormat>
  <Paragraphs>20</Paragraphs>
  <Slides>5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Wingdings 3</vt:lpstr>
      <vt:lpstr>Lato</vt:lpstr>
      <vt:lpstr>Days One</vt:lpstr>
      <vt:lpstr>Century Gothic</vt:lpstr>
      <vt:lpstr>Arial</vt:lpstr>
      <vt:lpstr>Times New Roman</vt:lpstr>
      <vt:lpstr>Sector</vt:lpstr>
      <vt:lpstr>Microsoft Excel Worksheet</vt:lpstr>
      <vt:lpstr>Grocery Sales</vt:lpstr>
      <vt:lpstr>Ventas por mes</vt:lpstr>
      <vt:lpstr> clientes  distribuidos  por país/ciudad.</vt:lpstr>
      <vt:lpstr>Top 5 – Productos más vendidos en el mes de marzo</vt:lpstr>
      <vt:lpstr>Hallazgos clave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Grocery Sales</dc:title>
  <dc:creator>Carlos</dc:creator>
  <cp:lastModifiedBy>Jairo</cp:lastModifiedBy>
  <cp:revision>16</cp:revision>
  <dcterms:modified xsi:type="dcterms:W3CDTF">2025-08-22T22:16:07Z</dcterms:modified>
</cp:coreProperties>
</file>